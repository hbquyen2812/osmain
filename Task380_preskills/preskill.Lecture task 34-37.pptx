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95" r:id="rId5"/>
    <p:sldMasterId id="214748369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ACEE9F1-1657-4487-ABDF-9CBAA427BB93}">
  <a:tblStyle styleId="{BACEE9F1-1657-4487-ABDF-9CBAA427BB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w3schools.com/jquery/jquery_ref_selectors.asp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w3schools.com/jquery/jquery_ref_selectors.asp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w3schools.com/jquery/jquery_ref_selectors.asp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w3schools.com/jquery/ajax_ajax.asp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ce1f04e271_0_3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2ce1f04e271_0_3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2fb8d274a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12fb8d274a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256df899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256df899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256df8999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256df8999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jQuery Selectors (w3schools.com)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3b0327747e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3b0327747e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368dad5ec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368dad5e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4797f12b4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4797f12b4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256df8999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256df8999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jQuery Selectors (w3schools.com)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256df8999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256df8999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jQuery Selectors (w3schools.com)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256df89994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256df8999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jQuery ajax() Method (w3schools.com)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479b6a23b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1479b6a23b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147b0c23af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147b0c23af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47b0c23af6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47b0c23af6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47b0c23af6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47b0c23af6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256df89994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2256df89994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jpg"/><Relationship Id="rId3" Type="http://schemas.openxmlformats.org/officeDocument/2006/relationships/image" Target="../media/image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>
  <p:cSld name="TITLE_3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4">
  <p:cSld name="TITLE_4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5">
  <p:cSld name="TITLE_5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_1">
  <p:cSld name="TITLE_1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6" name="Google Shape;96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6">
  <p:cSld name="TITLE_6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7">
  <p:cSld name="TITLE_7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8">
  <p:cSld name="TITLE_8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9">
  <p:cSld name="TITLE_9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0">
  <p:cSld name="TITLE_10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1">
  <p:cSld name="TITLE_1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2">
  <p:cSld name="TITLE_12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6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3">
  <p:cSld name="TITLE_13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4">
  <p:cSld name="TITLE_14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8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5">
  <p:cSld name="TITLE_15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9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6">
  <p:cSld name="TITLE_16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7">
  <p:cSld name="TITLE_17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1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8">
  <p:cSld name="TITLE_18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2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9">
  <p:cSld name="TITLE_19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0">
  <p:cSld name="TITLE_20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1">
  <p:cSld name="TITLE_21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5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2">
  <p:cSld name="TITLE_22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6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3">
  <p:cSld name="TITLE_2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7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9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2" name="Google Shape;142;p39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3" name="Google Shape;143;p39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39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75000"/>
            </a:blip>
            <a:stretch>
              <a:fillRect b="-28881" l="0" r="0" t="-48891"/>
            </a:stretch>
          </a:blipFill>
          <a:ln>
            <a:noFill/>
          </a:ln>
        </p:spPr>
      </p:sp>
      <p:pic>
        <p:nvPicPr>
          <p:cNvPr id="145" name="Google Shape;14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6450" y="4695000"/>
            <a:ext cx="1635401" cy="29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0"/>
          <p:cNvSpPr txBox="1"/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8" name="Google Shape;148;p40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rt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rt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rtl="0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rtl="0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rtl="0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rtl="0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rtl="0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rtl="0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rtl="0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9" name="Google Shape;149;p40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0" name="Google Shape;150;p40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1" name="Google Shape;151;p40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1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4" name="Google Shape;154;p41"/>
          <p:cNvSpPr txBox="1"/>
          <p:nvPr>
            <p:ph idx="1" type="body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55" name="Google Shape;155;p41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6" name="Google Shape;156;p41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7" name="Google Shape;157;p41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2"/>
          <p:cNvSpPr txBox="1"/>
          <p:nvPr>
            <p:ph type="title"/>
          </p:nvPr>
        </p:nvSpPr>
        <p:spPr>
          <a:xfrm>
            <a:off x="361156" y="2203450"/>
            <a:ext cx="38862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60" name="Google Shape;160;p42"/>
          <p:cNvSpPr txBox="1"/>
          <p:nvPr>
            <p:ph idx="1" type="body"/>
          </p:nvPr>
        </p:nvSpPr>
        <p:spPr>
          <a:xfrm>
            <a:off x="361156" y="1453357"/>
            <a:ext cx="38862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rtl="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rtl="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rtl="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rtl="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rtl="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rtl="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rtl="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rtl="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rtl="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1" name="Google Shape;161;p42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62" name="Google Shape;162;p42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63" name="Google Shape;163;p42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66" name="Google Shape;166;p43"/>
          <p:cNvSpPr txBox="1"/>
          <p:nvPr>
            <p:ph idx="1" type="body"/>
          </p:nvPr>
        </p:nvSpPr>
        <p:spPr>
          <a:xfrm>
            <a:off x="2286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167" name="Google Shape;167;p43"/>
          <p:cNvSpPr txBox="1"/>
          <p:nvPr>
            <p:ph idx="2" type="body"/>
          </p:nvPr>
        </p:nvSpPr>
        <p:spPr>
          <a:xfrm>
            <a:off x="23241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168" name="Google Shape;168;p4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69" name="Google Shape;169;p4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0" name="Google Shape;170;p4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4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3" name="Google Shape;173;p44"/>
          <p:cNvSpPr txBox="1"/>
          <p:nvPr>
            <p:ph idx="1" type="body"/>
          </p:nvPr>
        </p:nvSpPr>
        <p:spPr>
          <a:xfrm>
            <a:off x="228600" y="767556"/>
            <a:ext cx="202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174" name="Google Shape;174;p44"/>
          <p:cNvSpPr txBox="1"/>
          <p:nvPr>
            <p:ph idx="2" type="body"/>
          </p:nvPr>
        </p:nvSpPr>
        <p:spPr>
          <a:xfrm>
            <a:off x="228600" y="1087438"/>
            <a:ext cx="20202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175" name="Google Shape;175;p44"/>
          <p:cNvSpPr txBox="1"/>
          <p:nvPr>
            <p:ph idx="3" type="body"/>
          </p:nvPr>
        </p:nvSpPr>
        <p:spPr>
          <a:xfrm>
            <a:off x="2322513" y="767556"/>
            <a:ext cx="2021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176" name="Google Shape;176;p44"/>
          <p:cNvSpPr txBox="1"/>
          <p:nvPr>
            <p:ph idx="4" type="body"/>
          </p:nvPr>
        </p:nvSpPr>
        <p:spPr>
          <a:xfrm>
            <a:off x="2322513" y="1087438"/>
            <a:ext cx="20211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177" name="Google Shape;177;p44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8" name="Google Shape;178;p44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9" name="Google Shape;179;p4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5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82" name="Google Shape;182;p45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83" name="Google Shape;183;p45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84" name="Google Shape;184;p45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6"/>
          <p:cNvSpPr txBox="1"/>
          <p:nvPr>
            <p:ph type="title"/>
          </p:nvPr>
        </p:nvSpPr>
        <p:spPr>
          <a:xfrm>
            <a:off x="228600" y="136525"/>
            <a:ext cx="15042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87" name="Google Shape;187;p46"/>
          <p:cNvSpPr txBox="1"/>
          <p:nvPr>
            <p:ph idx="1" type="body"/>
          </p:nvPr>
        </p:nvSpPr>
        <p:spPr>
          <a:xfrm>
            <a:off x="1787525" y="136525"/>
            <a:ext cx="2556000" cy="29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88" name="Google Shape;188;p46"/>
          <p:cNvSpPr txBox="1"/>
          <p:nvPr>
            <p:ph idx="2" type="body"/>
          </p:nvPr>
        </p:nvSpPr>
        <p:spPr>
          <a:xfrm>
            <a:off x="228600" y="717550"/>
            <a:ext cx="1504200" cy="23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89" name="Google Shape;189;p46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0" name="Google Shape;190;p46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1" name="Google Shape;191;p46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7"/>
          <p:cNvSpPr txBox="1"/>
          <p:nvPr>
            <p:ph type="title"/>
          </p:nvPr>
        </p:nvSpPr>
        <p:spPr>
          <a:xfrm>
            <a:off x="896144" y="2400300"/>
            <a:ext cx="2743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4" name="Google Shape;194;p47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p47"/>
          <p:cNvSpPr txBox="1"/>
          <p:nvPr>
            <p:ph idx="1" type="body"/>
          </p:nvPr>
        </p:nvSpPr>
        <p:spPr>
          <a:xfrm>
            <a:off x="896144" y="2683669"/>
            <a:ext cx="27432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96" name="Google Shape;196;p47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7" name="Google Shape;197;p47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8" name="Google Shape;198;p47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01" name="Google Shape;201;p48"/>
          <p:cNvSpPr txBox="1"/>
          <p:nvPr>
            <p:ph idx="1" type="body"/>
          </p:nvPr>
        </p:nvSpPr>
        <p:spPr>
          <a:xfrm rot="5400000">
            <a:off x="1154400" y="-125700"/>
            <a:ext cx="2263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202" name="Google Shape;202;p48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03" name="Google Shape;203;p48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04" name="Google Shape;204;p48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9"/>
          <p:cNvSpPr txBox="1"/>
          <p:nvPr>
            <p:ph type="title"/>
          </p:nvPr>
        </p:nvSpPr>
        <p:spPr>
          <a:xfrm rot="5400000">
            <a:off x="2366100" y="1085919"/>
            <a:ext cx="2925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07" name="Google Shape;207;p49"/>
          <p:cNvSpPr txBox="1"/>
          <p:nvPr>
            <p:ph idx="1" type="body"/>
          </p:nvPr>
        </p:nvSpPr>
        <p:spPr>
          <a:xfrm rot="5400000">
            <a:off x="270600" y="95319"/>
            <a:ext cx="2925900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208" name="Google Shape;208;p49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09" name="Google Shape;209;p49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10" name="Google Shape;210;p49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0.xml"/><Relationship Id="rId33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9.xml"/><Relationship Id="rId3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12.xml"/><Relationship Id="rId35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11.xml"/><Relationship Id="rId3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14.xml"/><Relationship Id="rId37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13.xml"/><Relationship Id="rId36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38" Type="http://schemas.openxmlformats.org/officeDocument/2006/relationships/theme" Target="../theme/theme3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136" name="Google Shape;136;p38"/>
          <p:cNvSpPr txBox="1"/>
          <p:nvPr>
            <p:ph idx="1" type="body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7" name="Google Shape;137;p38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8" name="Google Shape;138;p38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" name="Google Shape;139;p38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w3schools.com/jquery/jquery_ref_selectors.asp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18.png"/><Relationship Id="rId6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w3schools.com/jquery/ajax_ajax.asp" TargetMode="External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0"/>
          <p:cNvSpPr txBox="1"/>
          <p:nvPr>
            <p:ph idx="4294967295" type="ctrTitle"/>
          </p:nvPr>
        </p:nvSpPr>
        <p:spPr>
          <a:xfrm>
            <a:off x="364800" y="571500"/>
            <a:ext cx="8011800" cy="26346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4500">
                <a:solidFill>
                  <a:srgbClr val="37278E"/>
                </a:solidFill>
                <a:latin typeface="Arial"/>
                <a:ea typeface="Arial"/>
                <a:cs typeface="Arial"/>
                <a:sym typeface="Arial"/>
              </a:rPr>
              <a:t>jQuery </a:t>
            </a:r>
            <a:endParaRPr b="1" sz="4500">
              <a:solidFill>
                <a:srgbClr val="37278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4500">
                <a:solidFill>
                  <a:srgbClr val="0071BB"/>
                </a:solidFill>
                <a:latin typeface="Arial"/>
                <a:ea typeface="Arial"/>
                <a:cs typeface="Arial"/>
                <a:sym typeface="Arial"/>
              </a:rPr>
              <a:t>Nhúng thư viện, cú pháp, method, thực thi sự kiện, Ajax</a:t>
            </a:r>
            <a:endParaRPr b="1" sz="4500">
              <a:solidFill>
                <a:srgbClr val="0071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50"/>
          <p:cNvSpPr txBox="1"/>
          <p:nvPr/>
        </p:nvSpPr>
        <p:spPr>
          <a:xfrm>
            <a:off x="259525" y="4593900"/>
            <a:ext cx="1756200" cy="439500"/>
          </a:xfrm>
          <a:prstGeom prst="rect">
            <a:avLst/>
          </a:prstGeom>
          <a:solidFill>
            <a:srgbClr val="0071B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</a:rPr>
              <a:t>&lt; PRE-SKILL /&gt;</a:t>
            </a:r>
            <a:endParaRPr b="1" sz="1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1"/>
          <p:cNvSpPr txBox="1"/>
          <p:nvPr>
            <p:ph type="title"/>
          </p:nvPr>
        </p:nvSpPr>
        <p:spPr>
          <a:xfrm>
            <a:off x="484825" y="152400"/>
            <a:ext cx="81198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7278E"/>
                </a:solidFill>
              </a:rPr>
              <a:t>CHUẨN BỊ KIẾN THỨC </a:t>
            </a:r>
            <a:r>
              <a:rPr b="1" lang="en">
                <a:solidFill>
                  <a:srgbClr val="0071BB"/>
                </a:solidFill>
              </a:rPr>
              <a:t>TASK 34-37</a:t>
            </a:r>
            <a:endParaRPr b="1">
              <a:solidFill>
                <a:srgbClr val="0071BB"/>
              </a:solidFill>
            </a:endParaRPr>
          </a:p>
        </p:txBody>
      </p:sp>
      <p:sp>
        <p:nvSpPr>
          <p:cNvPr id="222" name="Google Shape;222;p51"/>
          <p:cNvSpPr txBox="1"/>
          <p:nvPr>
            <p:ph idx="1" type="body"/>
          </p:nvPr>
        </p:nvSpPr>
        <p:spPr>
          <a:xfrm>
            <a:off x="560025" y="850450"/>
            <a:ext cx="8119800" cy="392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SzPts val="853"/>
              <a:buNone/>
            </a:pPr>
            <a:r>
              <a:rPr lang="en" sz="1695">
                <a:solidFill>
                  <a:schemeClr val="dk1"/>
                </a:solidFill>
              </a:rPr>
              <a:t>Các vấn đề chính sẽ làm việc trong tuần:</a:t>
            </a:r>
            <a:endParaRPr b="1" sz="1895">
              <a:solidFill>
                <a:schemeClr val="dk1"/>
              </a:solidFill>
            </a:endParaRPr>
          </a:p>
          <a:p>
            <a:pPr indent="-348932" lvl="1" marL="1371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95"/>
              <a:buChar char="•"/>
            </a:pPr>
            <a:r>
              <a:rPr lang="en" sz="1695">
                <a:solidFill>
                  <a:schemeClr val="dk1"/>
                </a:solidFill>
              </a:rPr>
              <a:t>Cách nhúng thư viện jQuery, cú pháp jQuery theo các selector</a:t>
            </a:r>
            <a:endParaRPr sz="1695">
              <a:solidFill>
                <a:schemeClr val="dk1"/>
              </a:solidFill>
            </a:endParaRPr>
          </a:p>
          <a:p>
            <a:pPr indent="-336232" lvl="1" marL="1371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95"/>
              <a:buChar char="•"/>
            </a:pPr>
            <a:r>
              <a:rPr lang="en" sz="1695">
                <a:solidFill>
                  <a:schemeClr val="dk1"/>
                </a:solidFill>
              </a:rPr>
              <a:t>Các method jQuery hay sử dụng</a:t>
            </a:r>
            <a:endParaRPr sz="1695">
              <a:solidFill>
                <a:schemeClr val="dk1"/>
              </a:solidFill>
            </a:endParaRPr>
          </a:p>
          <a:p>
            <a:pPr indent="-336232" lvl="1" marL="1371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95"/>
              <a:buChar char="•"/>
            </a:pPr>
            <a:r>
              <a:rPr lang="en" sz="1695">
                <a:solidFill>
                  <a:schemeClr val="dk1"/>
                </a:solidFill>
              </a:rPr>
              <a:t>Thực thi sự kiện với jQuery</a:t>
            </a:r>
            <a:endParaRPr sz="1695">
              <a:solidFill>
                <a:schemeClr val="dk1"/>
              </a:solidFill>
            </a:endParaRPr>
          </a:p>
          <a:p>
            <a:pPr indent="-336232" lvl="1" marL="1371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95"/>
              <a:buChar char="•"/>
            </a:pPr>
            <a:r>
              <a:rPr lang="en" sz="1695">
                <a:solidFill>
                  <a:schemeClr val="dk1"/>
                </a:solidFill>
              </a:rPr>
              <a:t>jQuery Ajax (để làm việc với API)</a:t>
            </a:r>
            <a:endParaRPr sz="169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SzPts val="853"/>
              <a:buNone/>
            </a:pPr>
            <a:r>
              <a:rPr b="1" lang="en" sz="1695">
                <a:solidFill>
                  <a:srgbClr val="0071BB"/>
                </a:solidFill>
              </a:rPr>
              <a:t>Yêu cầu: </a:t>
            </a:r>
            <a:endParaRPr b="1" sz="1695">
              <a:solidFill>
                <a:srgbClr val="0071BB"/>
              </a:solidFill>
            </a:endParaRPr>
          </a:p>
          <a:p>
            <a:pPr indent="-336233" lvl="0" marL="457200" rtl="0" algn="l">
              <a:spcBef>
                <a:spcPts val="800"/>
              </a:spcBef>
              <a:spcAft>
                <a:spcPts val="0"/>
              </a:spcAft>
              <a:buSzPts val="1695"/>
              <a:buChar char="●"/>
            </a:pPr>
            <a:r>
              <a:rPr lang="en" sz="1695"/>
              <a:t>ACE làm bài tập được giao từng cá nhân, nhưng nên chia sẻ và hỏi nhóm, các bạn có thể hỏi thành viên nhóm, hoặc technical lead.</a:t>
            </a:r>
            <a:endParaRPr sz="1695"/>
          </a:p>
          <a:p>
            <a:pPr indent="-336233" lvl="0" marL="457200" rtl="0" algn="l">
              <a:spcBef>
                <a:spcPts val="800"/>
              </a:spcBef>
              <a:spcAft>
                <a:spcPts val="0"/>
              </a:spcAft>
              <a:buSzPts val="1695"/>
              <a:buChar char="●"/>
            </a:pPr>
            <a:r>
              <a:rPr lang="en" sz="1695"/>
              <a:t>Lưu ý: giờ học </a:t>
            </a:r>
            <a:r>
              <a:rPr b="1" lang="en" sz="1695"/>
              <a:t>chỉ giúp ace hiểu căn bản</a:t>
            </a:r>
            <a:r>
              <a:rPr lang="en" sz="1695"/>
              <a:t>, để hiểu sâu, biết thao tác kĩ, các thầy sẽ dạy ở S10 từng ngày học. Để thực sự biết áp dụng, phải làm bài S50. </a:t>
            </a:r>
            <a:endParaRPr sz="1695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95"/>
              <a:t> </a:t>
            </a:r>
            <a:endParaRPr sz="1695"/>
          </a:p>
        </p:txBody>
      </p:sp>
      <p:sp>
        <p:nvSpPr>
          <p:cNvPr id="223" name="Google Shape;223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2"/>
          <p:cNvSpPr txBox="1"/>
          <p:nvPr>
            <p:ph type="title"/>
          </p:nvPr>
        </p:nvSpPr>
        <p:spPr>
          <a:xfrm>
            <a:off x="568625" y="172825"/>
            <a:ext cx="79977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71BB"/>
                </a:solidFill>
              </a:rPr>
              <a:t>Cách nhúng thư viện jQuery</a:t>
            </a:r>
            <a:endParaRPr b="1">
              <a:solidFill>
                <a:srgbClr val="0071BB"/>
              </a:solidFill>
            </a:endParaRPr>
          </a:p>
        </p:txBody>
      </p:sp>
      <p:sp>
        <p:nvSpPr>
          <p:cNvPr id="229" name="Google Shape;229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9675" y="985200"/>
            <a:ext cx="4661474" cy="114637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2"/>
          <p:cNvSpPr/>
          <p:nvPr/>
        </p:nvSpPr>
        <p:spPr>
          <a:xfrm>
            <a:off x="609600" y="1082800"/>
            <a:ext cx="3583800" cy="797700"/>
          </a:xfrm>
          <a:prstGeom prst="rect">
            <a:avLst/>
          </a:prstGeom>
          <a:noFill/>
          <a:ln cap="flat" cmpd="sng" w="9525">
            <a:solidFill>
              <a:srgbClr val="00A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jQuery là một thư viện Javascript</a:t>
            </a:r>
            <a:r>
              <a:rPr lang="en"/>
              <a:t>, được sử dụng để làm việc với các phần tử HTML</a:t>
            </a:r>
            <a:endParaRPr/>
          </a:p>
        </p:txBody>
      </p:sp>
      <p:pic>
        <p:nvPicPr>
          <p:cNvPr id="232" name="Google Shape;232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" y="3440500"/>
            <a:ext cx="8458201" cy="1331650"/>
          </a:xfrm>
          <a:prstGeom prst="rect">
            <a:avLst/>
          </a:prstGeom>
          <a:noFill/>
          <a:ln cap="flat" cmpd="sng" w="9525">
            <a:solidFill>
              <a:srgbClr val="00ADE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3" name="Google Shape;233;p52"/>
          <p:cNvSpPr/>
          <p:nvPr/>
        </p:nvSpPr>
        <p:spPr>
          <a:xfrm>
            <a:off x="609600" y="2354700"/>
            <a:ext cx="3583800" cy="797700"/>
          </a:xfrm>
          <a:prstGeom prst="rect">
            <a:avLst/>
          </a:prstGeom>
          <a:noFill/>
          <a:ln cap="flat" cmpd="sng" w="9525">
            <a:solidFill>
              <a:srgbClr val="00A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Cách nhúng thư viện jQuery vào file 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(sử dụng CDN)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3"/>
          <p:cNvSpPr txBox="1"/>
          <p:nvPr>
            <p:ph type="title"/>
          </p:nvPr>
        </p:nvSpPr>
        <p:spPr>
          <a:xfrm>
            <a:off x="525400" y="96625"/>
            <a:ext cx="80409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71BB"/>
                </a:solidFill>
              </a:rPr>
              <a:t>Cú pháp cơ bản của jQuery</a:t>
            </a:r>
            <a:endParaRPr b="1">
              <a:solidFill>
                <a:srgbClr val="0071BB"/>
              </a:solidFill>
            </a:endParaRPr>
          </a:p>
        </p:txBody>
      </p:sp>
      <p:pic>
        <p:nvPicPr>
          <p:cNvPr id="239" name="Google Shape;23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152" y="594475"/>
            <a:ext cx="7455255" cy="2507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650" y="3036765"/>
            <a:ext cx="8040899" cy="1751635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1" name="Google Shape;241;p53"/>
          <p:cNvSpPr txBox="1"/>
          <p:nvPr/>
        </p:nvSpPr>
        <p:spPr>
          <a:xfrm>
            <a:off x="525400" y="47895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rgbClr val="00ADEE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jQuery Selectors (w3schools.com)</a:t>
            </a:r>
            <a:endParaRPr sz="1300">
              <a:solidFill>
                <a:srgbClr val="00ADEE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07300"/>
            <a:ext cx="3066493" cy="456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54"/>
          <p:cNvSpPr/>
          <p:nvPr/>
        </p:nvSpPr>
        <p:spPr>
          <a:xfrm>
            <a:off x="2869775" y="884700"/>
            <a:ext cx="2437500" cy="652200"/>
          </a:xfrm>
          <a:prstGeom prst="rect">
            <a:avLst/>
          </a:prstGeom>
          <a:noFill/>
          <a:ln cap="flat" cmpd="sng" w="9525">
            <a:solidFill>
              <a:srgbClr val="00A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Đối tượng </a:t>
            </a:r>
            <a:r>
              <a:rPr b="1" lang="en">
                <a:solidFill>
                  <a:srgbClr val="0071BB"/>
                </a:solidFill>
              </a:rPr>
              <a:t>DOM</a:t>
            </a:r>
            <a:r>
              <a:rPr lang="en">
                <a:solidFill>
                  <a:srgbClr val="0071BB"/>
                </a:solidFill>
              </a:rPr>
              <a:t> </a:t>
            </a:r>
            <a:r>
              <a:rPr lang="en"/>
              <a:t>element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Ở code javascript</a:t>
            </a:r>
            <a:endParaRPr/>
          </a:p>
        </p:txBody>
      </p:sp>
      <p:sp>
        <p:nvSpPr>
          <p:cNvPr id="248" name="Google Shape;248;p54"/>
          <p:cNvSpPr/>
          <p:nvPr/>
        </p:nvSpPr>
        <p:spPr>
          <a:xfrm>
            <a:off x="2801625" y="3323200"/>
            <a:ext cx="2505600" cy="632100"/>
          </a:xfrm>
          <a:prstGeom prst="rect">
            <a:avLst/>
          </a:prstGeom>
          <a:noFill/>
          <a:ln cap="flat" cmpd="sng" w="9525">
            <a:solidFill>
              <a:srgbClr val="00A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Trang HTML:</a:t>
            </a:r>
            <a:br>
              <a:rPr lang="en"/>
            </a:br>
            <a:r>
              <a:rPr lang="en"/>
              <a:t>H1 HTML element (phần tử) </a:t>
            </a:r>
            <a:endParaRPr/>
          </a:p>
        </p:txBody>
      </p:sp>
      <p:sp>
        <p:nvSpPr>
          <p:cNvPr id="249" name="Google Shape;249;p54"/>
          <p:cNvSpPr/>
          <p:nvPr/>
        </p:nvSpPr>
        <p:spPr>
          <a:xfrm>
            <a:off x="2869775" y="1864250"/>
            <a:ext cx="2437500" cy="592200"/>
          </a:xfrm>
          <a:prstGeom prst="rect">
            <a:avLst/>
          </a:prstGeom>
          <a:noFill/>
          <a:ln cap="flat" cmpd="sng" w="9525">
            <a:solidFill>
              <a:srgbClr val="00A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Truy vấn bằng </a:t>
            </a:r>
            <a:r>
              <a:rPr b="1" lang="en"/>
              <a:t>ID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Để xác định kết nối.</a:t>
            </a:r>
            <a:endParaRPr/>
          </a:p>
        </p:txBody>
      </p:sp>
      <p:cxnSp>
        <p:nvCxnSpPr>
          <p:cNvPr id="250" name="Google Shape;250;p54"/>
          <p:cNvCxnSpPr>
            <a:stCxn id="247" idx="1"/>
          </p:cNvCxnSpPr>
          <p:nvPr/>
        </p:nvCxnSpPr>
        <p:spPr>
          <a:xfrm rot="10800000">
            <a:off x="1662875" y="680700"/>
            <a:ext cx="1206900" cy="530100"/>
          </a:xfrm>
          <a:prstGeom prst="straightConnector1">
            <a:avLst/>
          </a:prstGeom>
          <a:noFill/>
          <a:ln cap="flat" cmpd="sng" w="9525">
            <a:solidFill>
              <a:srgbClr val="00ADE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" name="Google Shape;251;p54"/>
          <p:cNvCxnSpPr/>
          <p:nvPr/>
        </p:nvCxnSpPr>
        <p:spPr>
          <a:xfrm rot="10800000">
            <a:off x="2142680" y="2169918"/>
            <a:ext cx="693600" cy="13500"/>
          </a:xfrm>
          <a:prstGeom prst="straightConnector1">
            <a:avLst/>
          </a:prstGeom>
          <a:noFill/>
          <a:ln cap="flat" cmpd="sng" w="9525">
            <a:solidFill>
              <a:srgbClr val="00ADE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" name="Google Shape;252;p54"/>
          <p:cNvCxnSpPr/>
          <p:nvPr/>
        </p:nvCxnSpPr>
        <p:spPr>
          <a:xfrm rot="10800000">
            <a:off x="2142680" y="3647076"/>
            <a:ext cx="693600" cy="13500"/>
          </a:xfrm>
          <a:prstGeom prst="straightConnector1">
            <a:avLst/>
          </a:prstGeom>
          <a:noFill/>
          <a:ln cap="flat" cmpd="sng" w="9525">
            <a:solidFill>
              <a:srgbClr val="00ADEE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53" name="Google Shape;253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363" y="4870938"/>
            <a:ext cx="9001125" cy="276225"/>
          </a:xfrm>
          <a:prstGeom prst="rect">
            <a:avLst/>
          </a:prstGeom>
          <a:noFill/>
          <a:ln cap="flat" cmpd="sng" w="9525">
            <a:solidFill>
              <a:srgbClr val="00ADEE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4" name="Google Shape;254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92076" y="4238878"/>
            <a:ext cx="5551300" cy="479725"/>
          </a:xfrm>
          <a:prstGeom prst="rect">
            <a:avLst/>
          </a:prstGeom>
          <a:noFill/>
          <a:ln cap="flat" cmpd="sng" w="9525">
            <a:solidFill>
              <a:srgbClr val="00ADEE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5" name="Google Shape;255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74373" y="2783792"/>
            <a:ext cx="5293426" cy="341593"/>
          </a:xfrm>
          <a:prstGeom prst="rect">
            <a:avLst/>
          </a:prstGeom>
          <a:noFill/>
          <a:ln cap="flat" cmpd="sng" w="9525">
            <a:solidFill>
              <a:srgbClr val="00ADEE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6" name="Google Shape;256;p54"/>
          <p:cNvPicPr preferRelativeResize="0"/>
          <p:nvPr/>
        </p:nvPicPr>
        <p:blipFill rotWithShape="1">
          <a:blip r:embed="rId6">
            <a:alphaModFix/>
          </a:blip>
          <a:srcRect b="0" l="0" r="72606" t="0"/>
          <a:stretch/>
        </p:blipFill>
        <p:spPr>
          <a:xfrm>
            <a:off x="4406623" y="414350"/>
            <a:ext cx="1573375" cy="352425"/>
          </a:xfrm>
          <a:prstGeom prst="rect">
            <a:avLst/>
          </a:prstGeom>
          <a:noFill/>
          <a:ln cap="flat" cmpd="sng" w="9525">
            <a:solidFill>
              <a:srgbClr val="00ADE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7" name="Google Shape;257;p54"/>
          <p:cNvSpPr/>
          <p:nvPr/>
        </p:nvSpPr>
        <p:spPr>
          <a:xfrm>
            <a:off x="6134301" y="381000"/>
            <a:ext cx="2901600" cy="1802400"/>
          </a:xfrm>
          <a:prstGeom prst="rect">
            <a:avLst/>
          </a:prstGeom>
          <a:noFill/>
          <a:ln cap="flat" cmpd="sng" w="9525">
            <a:solidFill>
              <a:srgbClr val="00A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 </a:t>
            </a:r>
            <a:r>
              <a:rPr b="1" lang="en"/>
              <a:t>đối t</a:t>
            </a:r>
            <a:r>
              <a:rPr b="1" lang="en"/>
              <a:t>ượng</a:t>
            </a:r>
            <a:r>
              <a:rPr lang="en"/>
              <a:t> vH1Element, trong javascript,  ta có thể:</a:t>
            </a:r>
            <a:br>
              <a:rPr lang="en"/>
            </a:br>
            <a:r>
              <a:rPr lang="en"/>
              <a:t>* </a:t>
            </a:r>
            <a:r>
              <a:rPr b="1" lang="en"/>
              <a:t>Đọc </a:t>
            </a:r>
            <a:r>
              <a:rPr lang="en"/>
              <a:t>được các thuộc tính của H1 HTML element ở trang HTML.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 </a:t>
            </a:r>
            <a:r>
              <a:rPr b="1" lang="en"/>
              <a:t>S</a:t>
            </a:r>
            <a:r>
              <a:rPr b="1" lang="en"/>
              <a:t>ửa </a:t>
            </a:r>
            <a:r>
              <a:rPr lang="en"/>
              <a:t>t</a:t>
            </a:r>
            <a:r>
              <a:rPr lang="en"/>
              <a:t>huộc tính của vH1Element =&gt; thuộc tính của HTML element cũng </a:t>
            </a:r>
            <a:r>
              <a:rPr b="1" lang="en"/>
              <a:t>đổi theo.</a:t>
            </a:r>
            <a:endParaRPr b="1"/>
          </a:p>
        </p:txBody>
      </p:sp>
      <p:sp>
        <p:nvSpPr>
          <p:cNvPr id="258" name="Google Shape;258;p54"/>
          <p:cNvSpPr txBox="1"/>
          <p:nvPr/>
        </p:nvSpPr>
        <p:spPr>
          <a:xfrm>
            <a:off x="558675" y="76200"/>
            <a:ext cx="2861100" cy="431100"/>
          </a:xfrm>
          <a:prstGeom prst="rect">
            <a:avLst/>
          </a:prstGeom>
          <a:noFill/>
          <a:ln cap="flat" cmpd="sng" w="9525">
            <a:solidFill>
              <a:srgbClr val="00A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71BB"/>
                </a:solidFill>
              </a:rPr>
              <a:t>Nhắc l</a:t>
            </a:r>
            <a:r>
              <a:rPr b="1" lang="en" sz="1600">
                <a:solidFill>
                  <a:srgbClr val="0071BB"/>
                </a:solidFill>
              </a:rPr>
              <a:t>ại:  Đối tượng DOM</a:t>
            </a:r>
            <a:endParaRPr b="1" sz="1600">
              <a:solidFill>
                <a:srgbClr val="0071BB"/>
              </a:solidFill>
            </a:endParaRPr>
          </a:p>
        </p:txBody>
      </p:sp>
      <p:sp>
        <p:nvSpPr>
          <p:cNvPr id="259" name="Google Shape;259;p54"/>
          <p:cNvSpPr txBox="1"/>
          <p:nvPr>
            <p:ph idx="12" type="sldNum"/>
          </p:nvPr>
        </p:nvSpPr>
        <p:spPr>
          <a:xfrm>
            <a:off x="6354300" y="4843475"/>
            <a:ext cx="2160900" cy="273900"/>
          </a:xfrm>
          <a:prstGeom prst="rect">
            <a:avLst/>
          </a:prstGeom>
          <a:ln cap="flat" cmpd="sng" w="9525">
            <a:solidFill>
              <a:srgbClr val="00A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5"/>
          <p:cNvSpPr/>
          <p:nvPr/>
        </p:nvSpPr>
        <p:spPr>
          <a:xfrm>
            <a:off x="529850" y="2185675"/>
            <a:ext cx="2971500" cy="2874300"/>
          </a:xfrm>
          <a:prstGeom prst="rect">
            <a:avLst/>
          </a:prstGeom>
          <a:noFill/>
          <a:ln cap="flat" cmpd="sng" w="9525">
            <a:solidFill>
              <a:srgbClr val="00A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Có nh</a:t>
            </a:r>
            <a:r>
              <a:rPr b="1" lang="en"/>
              <a:t>iều cách để tạo đối tượng Jquery.  Nhưng thường bằng </a:t>
            </a:r>
            <a:r>
              <a:rPr lang="en">
                <a:solidFill>
                  <a:srgbClr val="0071BB"/>
                </a:solidFill>
              </a:rPr>
              <a:t>Jquery selector ( $)</a:t>
            </a:r>
            <a:r>
              <a:rPr b="1" lang="en">
                <a:solidFill>
                  <a:srgbClr val="0071BB"/>
                </a:solidFill>
              </a:rPr>
              <a:t> </a:t>
            </a:r>
            <a:r>
              <a:rPr lang="en">
                <a:solidFill>
                  <a:srgbClr val="0071BB"/>
                </a:solidFill>
              </a:rPr>
              <a:t> </a:t>
            </a:r>
            <a:endParaRPr>
              <a:solidFill>
                <a:srgbClr val="0071BB"/>
              </a:solidFill>
            </a:endParaRPr>
          </a:p>
        </p:txBody>
      </p:sp>
      <p:sp>
        <p:nvSpPr>
          <p:cNvPr id="265" name="Google Shape;265;p55"/>
          <p:cNvSpPr txBox="1"/>
          <p:nvPr>
            <p:ph type="ctrTitle"/>
          </p:nvPr>
        </p:nvSpPr>
        <p:spPr>
          <a:xfrm>
            <a:off x="628925" y="51450"/>
            <a:ext cx="7964400" cy="588300"/>
          </a:xfrm>
          <a:prstGeom prst="rect">
            <a:avLst/>
          </a:prstGeom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rgbClr val="0071BB"/>
                </a:solidFill>
              </a:rPr>
              <a:t>Đối t</a:t>
            </a:r>
            <a:r>
              <a:rPr lang="en" sz="3000">
                <a:solidFill>
                  <a:srgbClr val="0071BB"/>
                </a:solidFill>
              </a:rPr>
              <a:t>ượng Jquery - </a:t>
            </a:r>
            <a:r>
              <a:rPr b="1" lang="en" sz="3000">
                <a:solidFill>
                  <a:srgbClr val="0071BB"/>
                </a:solidFill>
              </a:rPr>
              <a:t>jquery object</a:t>
            </a:r>
            <a:endParaRPr b="1" sz="3000">
              <a:solidFill>
                <a:srgbClr val="0071BB"/>
              </a:solidFill>
            </a:endParaRPr>
          </a:p>
        </p:txBody>
      </p:sp>
      <p:sp>
        <p:nvSpPr>
          <p:cNvPr id="266" name="Google Shape;266;p55"/>
          <p:cNvSpPr txBox="1"/>
          <p:nvPr>
            <p:ph idx="1" type="subTitle"/>
          </p:nvPr>
        </p:nvSpPr>
        <p:spPr>
          <a:xfrm>
            <a:off x="551400" y="572050"/>
            <a:ext cx="7851000" cy="1002300"/>
          </a:xfrm>
          <a:prstGeom prst="rect">
            <a:avLst/>
          </a:prstGeom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1313" lvl="0" marL="45720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775"/>
              <a:buChar char="●"/>
            </a:pPr>
            <a:r>
              <a:rPr lang="en" sz="1775"/>
              <a:t>Đối tượng </a:t>
            </a:r>
            <a:r>
              <a:rPr lang="en" sz="1775"/>
              <a:t>Jquery là đối tượng </a:t>
            </a:r>
            <a:r>
              <a:rPr b="1" lang="en" sz="1875"/>
              <a:t>bao ra ngoài</a:t>
            </a:r>
            <a:r>
              <a:rPr lang="en" sz="1775"/>
              <a:t> đối tượng DOM</a:t>
            </a:r>
            <a:endParaRPr sz="1775"/>
          </a:p>
          <a:p>
            <a:pPr indent="-341313" lvl="0" marL="45720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775"/>
              <a:buChar char="●"/>
            </a:pPr>
            <a:r>
              <a:rPr lang="en" sz="1775"/>
              <a:t>Mục đích là: </a:t>
            </a:r>
            <a:endParaRPr sz="1775"/>
          </a:p>
          <a:p>
            <a:pPr indent="-249873" lvl="1" marL="54864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SzPts val="1775"/>
              <a:buChar char="○"/>
            </a:pPr>
            <a:r>
              <a:rPr lang="en" sz="1775"/>
              <a:t>Vẫn là  </a:t>
            </a:r>
            <a:r>
              <a:rPr b="1" lang="en" sz="1775"/>
              <a:t>Đọc/Sửa </a:t>
            </a:r>
            <a:r>
              <a:rPr lang="en" sz="1775"/>
              <a:t>thuộc tính html element</a:t>
            </a:r>
            <a:endParaRPr sz="1775"/>
          </a:p>
          <a:p>
            <a:pPr indent="-249873" lvl="1" marL="54864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SzPts val="1775"/>
              <a:buChar char="○"/>
            </a:pPr>
            <a:r>
              <a:rPr lang="en" sz="1775"/>
              <a:t>Nhưng  </a:t>
            </a:r>
            <a:r>
              <a:rPr b="1" lang="en" sz="1775">
                <a:solidFill>
                  <a:srgbClr val="0071BB"/>
                </a:solidFill>
              </a:rPr>
              <a:t>thao tác nhanh </a:t>
            </a:r>
            <a:r>
              <a:rPr lang="en" sz="1775"/>
              <a:t>hơn</a:t>
            </a:r>
            <a:endParaRPr sz="1775"/>
          </a:p>
          <a:p>
            <a:pPr indent="-249873" lvl="1" marL="54864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SzPts val="1775"/>
              <a:buChar char="○"/>
            </a:pPr>
            <a:r>
              <a:rPr lang="en" sz="1775"/>
              <a:t>Viết </a:t>
            </a:r>
            <a:r>
              <a:rPr b="1" lang="en" sz="1775">
                <a:solidFill>
                  <a:srgbClr val="0071BB"/>
                </a:solidFill>
              </a:rPr>
              <a:t>code ngắn</a:t>
            </a:r>
            <a:r>
              <a:rPr lang="en" sz="1775">
                <a:solidFill>
                  <a:schemeClr val="accent4"/>
                </a:solidFill>
              </a:rPr>
              <a:t> </a:t>
            </a:r>
            <a:r>
              <a:rPr lang="en" sz="1775"/>
              <a:t>hơn </a:t>
            </a:r>
            <a:endParaRPr sz="1775"/>
          </a:p>
        </p:txBody>
      </p:sp>
      <p:pic>
        <p:nvPicPr>
          <p:cNvPr id="267" name="Google Shape;267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4649" y="1485908"/>
            <a:ext cx="2584699" cy="3657593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55"/>
          <p:cNvSpPr/>
          <p:nvPr/>
        </p:nvSpPr>
        <p:spPr>
          <a:xfrm>
            <a:off x="7168800" y="1457275"/>
            <a:ext cx="1805400" cy="652200"/>
          </a:xfrm>
          <a:prstGeom prst="rect">
            <a:avLst/>
          </a:prstGeom>
          <a:noFill/>
          <a:ln cap="flat" cmpd="sng" w="9525">
            <a:solidFill>
              <a:srgbClr val="00A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Đối tượng </a:t>
            </a:r>
            <a:r>
              <a:rPr b="1" lang="en">
                <a:solidFill>
                  <a:srgbClr val="0071BB"/>
                </a:solidFill>
              </a:rPr>
              <a:t>DOM</a:t>
            </a:r>
            <a:r>
              <a:rPr lang="en">
                <a:solidFill>
                  <a:srgbClr val="0071BB"/>
                </a:solidFill>
              </a:rPr>
              <a:t> </a:t>
            </a:r>
            <a:r>
              <a:rPr lang="en"/>
              <a:t>element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Ở code javascript</a:t>
            </a:r>
            <a:endParaRPr/>
          </a:p>
        </p:txBody>
      </p:sp>
      <p:sp>
        <p:nvSpPr>
          <p:cNvPr id="269" name="Google Shape;269;p55"/>
          <p:cNvSpPr/>
          <p:nvPr/>
        </p:nvSpPr>
        <p:spPr>
          <a:xfrm>
            <a:off x="7154675" y="3721300"/>
            <a:ext cx="1895700" cy="652200"/>
          </a:xfrm>
          <a:prstGeom prst="rect">
            <a:avLst/>
          </a:prstGeom>
          <a:noFill/>
          <a:ln cap="flat" cmpd="sng" w="9525">
            <a:solidFill>
              <a:srgbClr val="00A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Trang HTML</a:t>
            </a:r>
            <a:r>
              <a:rPr lang="en"/>
              <a:t>:</a:t>
            </a:r>
            <a:br>
              <a:rPr lang="en"/>
            </a:br>
            <a:r>
              <a:rPr lang="en"/>
              <a:t>H1 HTML element (phần tử) </a:t>
            </a:r>
            <a:endParaRPr/>
          </a:p>
        </p:txBody>
      </p:sp>
      <p:sp>
        <p:nvSpPr>
          <p:cNvPr id="270" name="Google Shape;270;p55"/>
          <p:cNvSpPr/>
          <p:nvPr/>
        </p:nvSpPr>
        <p:spPr>
          <a:xfrm>
            <a:off x="7228628" y="2443550"/>
            <a:ext cx="1805400" cy="536100"/>
          </a:xfrm>
          <a:prstGeom prst="rect">
            <a:avLst/>
          </a:prstGeom>
          <a:noFill/>
          <a:ln cap="flat" cmpd="sng" w="9525">
            <a:solidFill>
              <a:srgbClr val="00A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Truy vấn bằng </a:t>
            </a:r>
            <a:r>
              <a:rPr b="1" lang="en"/>
              <a:t>ID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Để xác định kết nối.</a:t>
            </a:r>
            <a:endParaRPr/>
          </a:p>
        </p:txBody>
      </p:sp>
      <p:cxnSp>
        <p:nvCxnSpPr>
          <p:cNvPr id="271" name="Google Shape;271;p55"/>
          <p:cNvCxnSpPr>
            <a:stCxn id="268" idx="1"/>
          </p:cNvCxnSpPr>
          <p:nvPr/>
        </p:nvCxnSpPr>
        <p:spPr>
          <a:xfrm rot="10800000">
            <a:off x="6416100" y="1769275"/>
            <a:ext cx="752700" cy="14100"/>
          </a:xfrm>
          <a:prstGeom prst="straightConnector1">
            <a:avLst/>
          </a:prstGeom>
          <a:noFill/>
          <a:ln cap="flat" cmpd="sng" w="9525">
            <a:solidFill>
              <a:srgbClr val="00ADE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2" name="Google Shape;272;p55"/>
          <p:cNvCxnSpPr/>
          <p:nvPr/>
        </p:nvCxnSpPr>
        <p:spPr>
          <a:xfrm rot="10800000">
            <a:off x="6439575" y="2683675"/>
            <a:ext cx="752700" cy="14100"/>
          </a:xfrm>
          <a:prstGeom prst="straightConnector1">
            <a:avLst/>
          </a:prstGeom>
          <a:noFill/>
          <a:ln cap="flat" cmpd="sng" w="9525">
            <a:solidFill>
              <a:srgbClr val="00ADE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" name="Google Shape;273;p55"/>
          <p:cNvCxnSpPr/>
          <p:nvPr/>
        </p:nvCxnSpPr>
        <p:spPr>
          <a:xfrm rot="10800000">
            <a:off x="6439575" y="4055275"/>
            <a:ext cx="752700" cy="14100"/>
          </a:xfrm>
          <a:prstGeom prst="straightConnector1">
            <a:avLst/>
          </a:prstGeom>
          <a:noFill/>
          <a:ln cap="flat" cmpd="sng" w="9525">
            <a:solidFill>
              <a:srgbClr val="00ADEE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74" name="Google Shape;274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1350" y="3005150"/>
            <a:ext cx="5658250" cy="352425"/>
          </a:xfrm>
          <a:prstGeom prst="rect">
            <a:avLst/>
          </a:prstGeom>
          <a:noFill/>
          <a:ln cap="flat" cmpd="sng" w="9525">
            <a:solidFill>
              <a:srgbClr val="00ADE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5" name="Google Shape;275;p55"/>
          <p:cNvSpPr/>
          <p:nvPr/>
        </p:nvSpPr>
        <p:spPr>
          <a:xfrm>
            <a:off x="4702625" y="1486525"/>
            <a:ext cx="2044500" cy="1002300"/>
          </a:xfrm>
          <a:prstGeom prst="rect">
            <a:avLst/>
          </a:prstGeom>
          <a:noFill/>
          <a:ln cap="flat" cmpd="sng" w="28575">
            <a:solidFill>
              <a:srgbClr val="00ADE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55"/>
          <p:cNvSpPr txBox="1"/>
          <p:nvPr/>
        </p:nvSpPr>
        <p:spPr>
          <a:xfrm>
            <a:off x="835275" y="2435975"/>
            <a:ext cx="2246400" cy="400200"/>
          </a:xfrm>
          <a:prstGeom prst="rect">
            <a:avLst/>
          </a:prstGeom>
          <a:noFill/>
          <a:ln cap="flat" cmpd="sng" w="28575">
            <a:solidFill>
              <a:srgbClr val="00ADE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$(“#h1_chao_mung”)</a:t>
            </a:r>
            <a:endParaRPr b="1"/>
          </a:p>
        </p:txBody>
      </p:sp>
      <p:sp>
        <p:nvSpPr>
          <p:cNvPr id="277" name="Google Shape;277;p55"/>
          <p:cNvSpPr txBox="1"/>
          <p:nvPr/>
        </p:nvSpPr>
        <p:spPr>
          <a:xfrm>
            <a:off x="835275" y="3121775"/>
            <a:ext cx="2246400" cy="400200"/>
          </a:xfrm>
          <a:prstGeom prst="rect">
            <a:avLst/>
          </a:prstGeom>
          <a:noFill/>
          <a:ln cap="flat" cmpd="sng" w="28575">
            <a:solidFill>
              <a:srgbClr val="00ADE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$(“h1:first”)</a:t>
            </a:r>
            <a:endParaRPr b="1"/>
          </a:p>
        </p:txBody>
      </p:sp>
      <p:sp>
        <p:nvSpPr>
          <p:cNvPr id="278" name="Google Shape;278;p55"/>
          <p:cNvSpPr txBox="1"/>
          <p:nvPr/>
        </p:nvSpPr>
        <p:spPr>
          <a:xfrm>
            <a:off x="835275" y="3731375"/>
            <a:ext cx="2246400" cy="400200"/>
          </a:xfrm>
          <a:prstGeom prst="rect">
            <a:avLst/>
          </a:prstGeom>
          <a:noFill/>
          <a:ln cap="flat" cmpd="sng" w="28575">
            <a:solidFill>
              <a:srgbClr val="00ADE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$(vH1Element)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6"/>
          <p:cNvSpPr txBox="1"/>
          <p:nvPr>
            <p:ph type="title"/>
          </p:nvPr>
        </p:nvSpPr>
        <p:spPr>
          <a:xfrm>
            <a:off x="525550" y="20425"/>
            <a:ext cx="81171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71BB"/>
                </a:solidFill>
              </a:rPr>
              <a:t>So sánh Jquery object và DOM object </a:t>
            </a:r>
            <a:endParaRPr b="1">
              <a:solidFill>
                <a:srgbClr val="0071BB"/>
              </a:solidFill>
            </a:endParaRPr>
          </a:p>
        </p:txBody>
      </p:sp>
      <p:graphicFrame>
        <p:nvGraphicFramePr>
          <p:cNvPr id="284" name="Google Shape;284;p56"/>
          <p:cNvGraphicFramePr/>
          <p:nvPr/>
        </p:nvGraphicFramePr>
        <p:xfrm>
          <a:off x="601725" y="171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{BACEE9F1-1657-4487-ABDF-9CBAA427BB93}</a:tableStyleId>
              </a:tblPr>
              <a:tblGrid>
                <a:gridCol w="1263550"/>
                <a:gridCol w="3464950"/>
                <a:gridCol w="3741650"/>
              </a:tblGrid>
              <a:tr h="42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DOM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</a:rPr>
                        <a:t>Jquery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Kết nối v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ới element HTML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var vH1Element = document.getElementById(“h1-chao-mung”)</a:t>
                      </a:r>
                      <a:endParaRPr sz="13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var vH1Jquery = $(“#h1-chao-mung”)</a:t>
                      </a:r>
                      <a:endParaRPr sz="13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3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hoặc</a:t>
                      </a:r>
                      <a:endParaRPr i="1" sz="13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$(“h1:first”)   //array có 02 phần tử, lấy phần tử đầu</a:t>
                      </a:r>
                      <a:endParaRPr sz="13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3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Hoặc </a:t>
                      </a:r>
                      <a:endParaRPr i="1" sz="13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$(vH1Element) //tạo ra từ Dom object</a:t>
                      </a:r>
                      <a:endParaRPr sz="13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Đọc th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uộc tính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vH1Element.innerHTML</a:t>
                      </a:r>
                      <a:endParaRPr sz="13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vH1Jquery.html()</a:t>
                      </a:r>
                      <a:endParaRPr sz="13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ửa thuộc tính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vH1Element.innerHTML = “Hello”;</a:t>
                      </a:r>
                      <a:endParaRPr sz="13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vH1Jquery.html(“Hello”);</a:t>
                      </a:r>
                      <a:endParaRPr sz="13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vH1Element.style.color = “red”;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$(“h1:first”).css(“color”,”red”);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85" name="Google Shape;28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550" y="684100"/>
            <a:ext cx="8565949" cy="89938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7"/>
          <p:cNvSpPr txBox="1"/>
          <p:nvPr>
            <p:ph type="title"/>
          </p:nvPr>
        </p:nvSpPr>
        <p:spPr>
          <a:xfrm>
            <a:off x="482475" y="20425"/>
            <a:ext cx="80838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71BB"/>
                </a:solidFill>
              </a:rPr>
              <a:t>Các method cơ bản hay dùng trong jQuery</a:t>
            </a:r>
            <a:endParaRPr b="1">
              <a:solidFill>
                <a:srgbClr val="0071BB"/>
              </a:solidFill>
            </a:endParaRPr>
          </a:p>
        </p:txBody>
      </p:sp>
      <p:graphicFrame>
        <p:nvGraphicFramePr>
          <p:cNvPr id="292" name="Google Shape;292;p57"/>
          <p:cNvGraphicFramePr/>
          <p:nvPr/>
        </p:nvGraphicFramePr>
        <p:xfrm>
          <a:off x="482475" y="59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{BACEE9F1-1657-4487-ABDF-9CBAA427BB93}</a:tableStyleId>
              </a:tblPr>
              <a:tblGrid>
                <a:gridCol w="984025"/>
                <a:gridCol w="3631800"/>
                <a:gridCol w="3869550"/>
              </a:tblGrid>
              <a:tr h="49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Method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Ý nghĩa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Ví dụ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93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.val()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Dùng để lấy giá trị hoặc gán giá trị cho input text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4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.html()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Dùng để lấy giá trị hoặc gán giá trị cho thuộc tính innerHTML của phần tử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.append()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Dùng để nối thêm vào thuộc tính innerHTML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.prop()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Thay đổi 1 thuộc tính bất kỳ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93" name="Google Shape;29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7625" y="1171500"/>
            <a:ext cx="3636400" cy="103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7325" y="2352475"/>
            <a:ext cx="3113075" cy="113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87325" y="3627725"/>
            <a:ext cx="3766625" cy="49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98300" y="4457550"/>
            <a:ext cx="3854250" cy="22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8"/>
          <p:cNvSpPr txBox="1"/>
          <p:nvPr>
            <p:ph type="title"/>
          </p:nvPr>
        </p:nvSpPr>
        <p:spPr>
          <a:xfrm>
            <a:off x="525550" y="172825"/>
            <a:ext cx="80409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71BB"/>
                </a:solidFill>
              </a:rPr>
              <a:t>Các method cơ bản hay dùng trong jQuery</a:t>
            </a:r>
            <a:endParaRPr b="1">
              <a:solidFill>
                <a:srgbClr val="0071BB"/>
              </a:solidFill>
            </a:endParaRPr>
          </a:p>
        </p:txBody>
      </p:sp>
      <p:graphicFrame>
        <p:nvGraphicFramePr>
          <p:cNvPr id="302" name="Google Shape;302;p58"/>
          <p:cNvGraphicFramePr/>
          <p:nvPr/>
        </p:nvGraphicFramePr>
        <p:xfrm>
          <a:off x="602625" y="90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{BACEE9F1-1657-4487-ABDF-9CBAA427BB93}</a:tableStyleId>
              </a:tblPr>
              <a:tblGrid>
                <a:gridCol w="1098325"/>
                <a:gridCol w="3452125"/>
                <a:gridCol w="3814775"/>
              </a:tblGrid>
              <a:tr h="49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Method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Ý nghĩa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Ví dụ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93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.css()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Thay đổi 1 hoặc nhiều thuộc tính css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Thay đổi 1 thuộc tính:</a:t>
                      </a:r>
                      <a:endParaRPr sz="11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$(</a:t>
                      </a:r>
                      <a:r>
                        <a:rPr lang="en" sz="1150">
                          <a:solidFill>
                            <a:srgbClr val="00ADE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"p"</a:t>
                      </a:r>
                      <a:r>
                        <a:rPr lang="en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).css(</a:t>
                      </a:r>
                      <a:r>
                        <a:rPr lang="en" sz="1150">
                          <a:solidFill>
                            <a:srgbClr val="00ADE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"background-color", "yellow"</a:t>
                      </a:r>
                      <a:r>
                        <a:rPr lang="en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);</a:t>
                      </a:r>
                      <a:endParaRPr sz="11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Thay đổi nhiều:</a:t>
                      </a:r>
                      <a:endParaRPr sz="11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$(</a:t>
                      </a:r>
                      <a:r>
                        <a:rPr lang="en" sz="1150">
                          <a:solidFill>
                            <a:srgbClr val="00ADE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"p"</a:t>
                      </a:r>
                      <a:r>
                        <a:rPr lang="en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).css({</a:t>
                      </a:r>
                      <a:r>
                        <a:rPr lang="en" sz="1150">
                          <a:solidFill>
                            <a:srgbClr val="00ADE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"background-color": "yellow"</a:t>
                      </a:r>
                      <a:r>
                        <a:rPr lang="en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 </a:t>
                      </a:r>
                      <a:r>
                        <a:rPr lang="en" sz="1150">
                          <a:solidFill>
                            <a:srgbClr val="00ADE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"font-size"</a:t>
                      </a:r>
                      <a:r>
                        <a:rPr lang="en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: </a:t>
                      </a:r>
                      <a:r>
                        <a:rPr lang="en" sz="1150">
                          <a:solidFill>
                            <a:srgbClr val="00ADE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"200%"</a:t>
                      </a:r>
                      <a:r>
                        <a:rPr lang="en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});</a:t>
                      </a:r>
                      <a:endParaRPr sz="11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.addClass()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Thêm 1 class CSS cho phần tử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$(</a:t>
                      </a:r>
                      <a:r>
                        <a:rPr lang="en" sz="1150">
                          <a:solidFill>
                            <a:srgbClr val="00ADE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"p:first"</a:t>
                      </a:r>
                      <a:r>
                        <a:rPr lang="en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).addClass(</a:t>
                      </a:r>
                      <a:r>
                        <a:rPr lang="en" sz="1150">
                          <a:solidFill>
                            <a:srgbClr val="00ADE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"intro"</a:t>
                      </a:r>
                      <a:r>
                        <a:rPr lang="en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);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.click()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Gán sự kiện click cho phần tử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$(</a:t>
                      </a:r>
                      <a:r>
                        <a:rPr lang="en" sz="1150">
                          <a:solidFill>
                            <a:srgbClr val="00ADE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"#btn-send"</a:t>
                      </a:r>
                      <a:r>
                        <a:rPr lang="en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).</a:t>
                      </a:r>
                      <a:r>
                        <a:rPr b="1" lang="en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click</a:t>
                      </a:r>
                      <a:r>
                        <a:rPr lang="en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(function() {</a:t>
                      </a:r>
                      <a:endParaRPr sz="11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console.log("Xin chào");</a:t>
                      </a:r>
                      <a:endParaRPr sz="11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});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.on()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Gán sự kiện bất kỳ cho phần tử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$(</a:t>
                      </a:r>
                      <a:r>
                        <a:rPr lang="en" sz="1150">
                          <a:solidFill>
                            <a:srgbClr val="00ADE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"#btn-send"</a:t>
                      </a:r>
                      <a:r>
                        <a:rPr lang="en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).</a:t>
                      </a:r>
                      <a:r>
                        <a:rPr b="1" lang="en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on</a:t>
                      </a:r>
                      <a:r>
                        <a:rPr lang="en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("click", function() {</a:t>
                      </a:r>
                      <a:endParaRPr sz="11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console.log("Xin chào");</a:t>
                      </a:r>
                      <a:endParaRPr sz="11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});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9"/>
          <p:cNvSpPr txBox="1"/>
          <p:nvPr>
            <p:ph type="title"/>
          </p:nvPr>
        </p:nvSpPr>
        <p:spPr>
          <a:xfrm>
            <a:off x="508325" y="20425"/>
            <a:ext cx="38769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71BB"/>
                </a:solidFill>
              </a:rPr>
              <a:t>jQuery Ajax</a:t>
            </a:r>
            <a:endParaRPr b="1">
              <a:solidFill>
                <a:srgbClr val="0071BB"/>
              </a:solidFill>
            </a:endParaRPr>
          </a:p>
        </p:txBody>
      </p:sp>
      <p:sp>
        <p:nvSpPr>
          <p:cNvPr id="308" name="Google Shape;308;p59"/>
          <p:cNvSpPr txBox="1"/>
          <p:nvPr/>
        </p:nvSpPr>
        <p:spPr>
          <a:xfrm>
            <a:off x="579225" y="47895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rgbClr val="0071BB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jQuery ajax() Method</a:t>
            </a:r>
            <a:endParaRPr>
              <a:solidFill>
                <a:srgbClr val="0071BB"/>
              </a:solidFill>
            </a:endParaRPr>
          </a:p>
        </p:txBody>
      </p:sp>
      <p:pic>
        <p:nvPicPr>
          <p:cNvPr id="309" name="Google Shape;309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025" y="745525"/>
            <a:ext cx="4117275" cy="117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9325" y="780425"/>
            <a:ext cx="4350500" cy="254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3400" y="1991425"/>
            <a:ext cx="4117285" cy="2753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60"/>
          <p:cNvSpPr txBox="1"/>
          <p:nvPr>
            <p:ph type="title"/>
          </p:nvPr>
        </p:nvSpPr>
        <p:spPr>
          <a:xfrm>
            <a:off x="508325" y="46150"/>
            <a:ext cx="80598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720">
                <a:solidFill>
                  <a:srgbClr val="002157"/>
                </a:solidFill>
              </a:rPr>
              <a:t>T</a:t>
            </a:r>
            <a:r>
              <a:rPr b="1" lang="en" sz="1720">
                <a:solidFill>
                  <a:srgbClr val="002157"/>
                </a:solidFill>
              </a:rPr>
              <a:t>ask 380.10 Sử dụng Jquery Selector để tạo đối tượng Jquery, Đọc và Sửa thuộc tính HTML element</a:t>
            </a:r>
            <a:endParaRPr b="1" sz="1720">
              <a:solidFill>
                <a:srgbClr val="002157"/>
              </a:solidFill>
            </a:endParaRPr>
          </a:p>
        </p:txBody>
      </p:sp>
      <p:graphicFrame>
        <p:nvGraphicFramePr>
          <p:cNvPr id="317" name="Google Shape;317;p60"/>
          <p:cNvGraphicFramePr/>
          <p:nvPr/>
        </p:nvGraphicFramePr>
        <p:xfrm>
          <a:off x="574450" y="314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{BACEE9F1-1657-4487-ABDF-9CBAA427BB93}</a:tableStyleId>
              </a:tblPr>
              <a:tblGrid>
                <a:gridCol w="525275"/>
                <a:gridCol w="2726125"/>
                <a:gridCol w="5318150"/>
              </a:tblGrid>
              <a:tr h="337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D</a:t>
                      </a:r>
                      <a:r>
                        <a:rPr b="1" lang="en" sz="1200"/>
                        <a:t>ùng </a:t>
                      </a:r>
                      <a:r>
                        <a:rPr b="1" lang="en" sz="1200">
                          <a:solidFill>
                            <a:schemeClr val="accent1"/>
                          </a:solidFill>
                        </a:rPr>
                        <a:t>selector</a:t>
                      </a:r>
                      <a:r>
                        <a:rPr b="1" lang="en" sz="1200"/>
                        <a:t> gì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Làm </a:t>
                      </a:r>
                      <a:r>
                        <a:rPr b="1" lang="en" sz="1200"/>
                        <a:t>gì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Dùng ID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Đọc innerHTML của phần từ h1-chao-mung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9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Dùng h1 đầu tiên h1:first và n</a:t>
                      </a:r>
                      <a:r>
                        <a:rPr lang="en" sz="1200"/>
                        <a:t>ext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Đọc innerHTML của phần tử h1-jquery-doi-tuong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Dùng ID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Đ</a:t>
                      </a:r>
                      <a:r>
                        <a:rPr lang="en" sz="1200"/>
                        <a:t>ổi màu của phần từ H1 chào mừng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7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Dùng ID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Đ</a:t>
                      </a:r>
                      <a:r>
                        <a:rPr lang="en" sz="1200"/>
                        <a:t>ổi cỡ chữ, đổi innerHTML của phần tử p-jquery-muc-tieu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8" name="Google Shape;318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9" name="Google Shape;319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3108" y="509099"/>
            <a:ext cx="4290893" cy="1138300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0" name="Google Shape;320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100" y="1647400"/>
            <a:ext cx="6855149" cy="14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60"/>
          <p:cNvSpPr/>
          <p:nvPr/>
        </p:nvSpPr>
        <p:spPr>
          <a:xfrm>
            <a:off x="567100" y="895525"/>
            <a:ext cx="2946900" cy="627600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Bạn tải code mẫu đính kèm về để làm tiếp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61"/>
          <p:cNvSpPr txBox="1"/>
          <p:nvPr>
            <p:ph type="title"/>
          </p:nvPr>
        </p:nvSpPr>
        <p:spPr>
          <a:xfrm>
            <a:off x="516925" y="98625"/>
            <a:ext cx="80739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7278E"/>
                </a:solidFill>
              </a:rPr>
              <a:t>T</a:t>
            </a:r>
            <a:r>
              <a:rPr b="1" lang="en">
                <a:solidFill>
                  <a:srgbClr val="37278E"/>
                </a:solidFill>
              </a:rPr>
              <a:t>ask 380.10 Pie </a:t>
            </a:r>
            <a:endParaRPr b="1">
              <a:solidFill>
                <a:srgbClr val="37278E"/>
              </a:solidFill>
            </a:endParaRPr>
          </a:p>
        </p:txBody>
      </p:sp>
      <p:pic>
        <p:nvPicPr>
          <p:cNvPr id="327" name="Google Shape;327;p61"/>
          <p:cNvPicPr preferRelativeResize="0"/>
          <p:nvPr/>
        </p:nvPicPr>
        <p:blipFill rotWithShape="1">
          <a:blip r:embed="rId3">
            <a:alphaModFix/>
          </a:blip>
          <a:srcRect b="0" l="0" r="0" t="55508"/>
          <a:stretch/>
        </p:blipFill>
        <p:spPr>
          <a:xfrm>
            <a:off x="516925" y="1983525"/>
            <a:ext cx="8627075" cy="1845950"/>
          </a:xfrm>
          <a:prstGeom prst="rect">
            <a:avLst/>
          </a:prstGeom>
          <a:noFill/>
          <a:ln cap="flat" cmpd="sng" w="9525">
            <a:solidFill>
              <a:srgbClr val="00ADE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8" name="Google Shape;328;p61"/>
          <p:cNvSpPr/>
          <p:nvPr/>
        </p:nvSpPr>
        <p:spPr>
          <a:xfrm>
            <a:off x="557225" y="886575"/>
            <a:ext cx="4468800" cy="881700"/>
          </a:xfrm>
          <a:prstGeom prst="rect">
            <a:avLst/>
          </a:prstGeom>
          <a:noFill/>
          <a:ln cap="flat" cmpd="sng" w="9525">
            <a:solidFill>
              <a:srgbClr val="00A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Đây làm mã ng</a:t>
            </a:r>
            <a:r>
              <a:rPr lang="en"/>
              <a:t>uồn mẫu viết ở Console. Bạn có thể tham khảo để viết lại trên VS Code</a:t>
            </a:r>
            <a:endParaRPr/>
          </a:p>
        </p:txBody>
      </p:sp>
      <p:sp>
        <p:nvSpPr>
          <p:cNvPr id="329" name="Google Shape;329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62"/>
          <p:cNvSpPr txBox="1"/>
          <p:nvPr>
            <p:ph type="title"/>
          </p:nvPr>
        </p:nvSpPr>
        <p:spPr>
          <a:xfrm>
            <a:off x="516925" y="85425"/>
            <a:ext cx="8392200" cy="795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20">
                <a:solidFill>
                  <a:srgbClr val="0071BB"/>
                </a:solidFill>
              </a:rPr>
              <a:t>T</a:t>
            </a:r>
            <a:r>
              <a:rPr b="1" lang="en" sz="2020">
                <a:solidFill>
                  <a:srgbClr val="0071BB"/>
                </a:solidFill>
              </a:rPr>
              <a:t>ask 380.20 Sử dụng Jquery, thêm hàm xử lý sự kiện cho nút (“Ấn nút này để đổi màu H1 chào mừng”) </a:t>
            </a:r>
            <a:endParaRPr b="1" sz="2020">
              <a:solidFill>
                <a:srgbClr val="0071BB"/>
              </a:solidFill>
            </a:endParaRPr>
          </a:p>
        </p:txBody>
      </p:sp>
      <p:graphicFrame>
        <p:nvGraphicFramePr>
          <p:cNvPr id="335" name="Google Shape;335;p62"/>
          <p:cNvGraphicFramePr/>
          <p:nvPr/>
        </p:nvGraphicFramePr>
        <p:xfrm>
          <a:off x="564325" y="2884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{BACEE9F1-1657-4487-ABDF-9CBAA427BB93}</a:tableStyleId>
              </a:tblPr>
              <a:tblGrid>
                <a:gridCol w="856125"/>
                <a:gridCol w="7600700"/>
              </a:tblGrid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STT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Yêu cầu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Khai b</a:t>
                      </a:r>
                      <a:r>
                        <a:rPr b="1" lang="en"/>
                        <a:t>áo</a:t>
                      </a:r>
                      <a:r>
                        <a:rPr lang="en"/>
                        <a:t> hàm để xử lý sự kiện onclick của nút và dùng jQuery để </a:t>
                      </a:r>
                      <a:r>
                        <a:rPr b="1" lang="en"/>
                        <a:t>gán hàm này cho sự kiện click của nút (</a:t>
                      </a:r>
                      <a:r>
                        <a:rPr lang="en"/>
                        <a:t>sử dụng method .click() hoặc method .on() của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jQuery</a:t>
                      </a:r>
                      <a:r>
                        <a:rPr b="1" lang="en"/>
                        <a:t>)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Bên trong hàm, v</a:t>
                      </a:r>
                      <a:r>
                        <a:rPr lang="en"/>
                        <a:t>iết code jquery để </a:t>
                      </a:r>
                      <a:r>
                        <a:rPr b="1" lang="en"/>
                        <a:t>đổi màu </a:t>
                      </a:r>
                      <a:r>
                        <a:rPr lang="en"/>
                        <a:t>của h1-chao-mung sang màu đỏ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6" name="Google Shape;336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7" name="Google Shape;33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0225" y="1102125"/>
            <a:ext cx="5901276" cy="1565550"/>
          </a:xfrm>
          <a:prstGeom prst="rect">
            <a:avLst/>
          </a:prstGeom>
          <a:noFill/>
          <a:ln cap="flat" cmpd="sng" w="9525">
            <a:solidFill>
              <a:srgbClr val="00ADE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8" name="Google Shape;338;p62"/>
          <p:cNvSpPr/>
          <p:nvPr/>
        </p:nvSpPr>
        <p:spPr>
          <a:xfrm>
            <a:off x="514275" y="1098675"/>
            <a:ext cx="2475300" cy="627600"/>
          </a:xfrm>
          <a:prstGeom prst="rect">
            <a:avLst/>
          </a:prstGeom>
          <a:noFill/>
          <a:ln cap="flat" cmpd="sng" w="9525">
            <a:solidFill>
              <a:srgbClr val="00A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Dùng tiếp code bài 380.10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63"/>
          <p:cNvSpPr txBox="1"/>
          <p:nvPr>
            <p:ph type="title"/>
          </p:nvPr>
        </p:nvSpPr>
        <p:spPr>
          <a:xfrm>
            <a:off x="505600" y="152400"/>
            <a:ext cx="3414600" cy="572700"/>
          </a:xfrm>
          <a:prstGeom prst="rect">
            <a:avLst/>
          </a:prstGeom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7278E"/>
                </a:solidFill>
              </a:rPr>
              <a:t>T</a:t>
            </a:r>
            <a:r>
              <a:rPr b="1" lang="en">
                <a:solidFill>
                  <a:srgbClr val="37278E"/>
                </a:solidFill>
              </a:rPr>
              <a:t>ask 380.20 PIE</a:t>
            </a:r>
            <a:endParaRPr b="1">
              <a:solidFill>
                <a:srgbClr val="37278E"/>
              </a:solidFill>
            </a:endParaRPr>
          </a:p>
        </p:txBody>
      </p:sp>
      <p:pic>
        <p:nvPicPr>
          <p:cNvPr id="344" name="Google Shape;344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6249" y="70025"/>
            <a:ext cx="4905450" cy="3495901"/>
          </a:xfrm>
          <a:prstGeom prst="rect">
            <a:avLst/>
          </a:prstGeom>
          <a:noFill/>
          <a:ln cap="flat" cmpd="sng" w="9525">
            <a:solidFill>
              <a:srgbClr val="00ADE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5" name="Google Shape;345;p63"/>
          <p:cNvSpPr/>
          <p:nvPr/>
        </p:nvSpPr>
        <p:spPr>
          <a:xfrm>
            <a:off x="4083100" y="1991600"/>
            <a:ext cx="3873300" cy="650700"/>
          </a:xfrm>
          <a:prstGeom prst="rect">
            <a:avLst/>
          </a:prstGeom>
          <a:noFill/>
          <a:ln cap="flat" cmpd="sng" w="19050">
            <a:solidFill>
              <a:srgbClr val="00A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63"/>
          <p:cNvSpPr/>
          <p:nvPr/>
        </p:nvSpPr>
        <p:spPr>
          <a:xfrm>
            <a:off x="4083100" y="1151850"/>
            <a:ext cx="4125300" cy="189000"/>
          </a:xfrm>
          <a:prstGeom prst="rect">
            <a:avLst/>
          </a:prstGeom>
          <a:noFill/>
          <a:ln cap="flat" cmpd="sng" w="19050">
            <a:solidFill>
              <a:srgbClr val="00A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47" name="Google Shape;347;p63"/>
          <p:cNvGraphicFramePr/>
          <p:nvPr/>
        </p:nvGraphicFramePr>
        <p:xfrm>
          <a:off x="583650" y="107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{BACEE9F1-1657-4487-ABDF-9CBAA427BB93}</a:tableStyleId>
              </a:tblPr>
              <a:tblGrid>
                <a:gridCol w="382850"/>
                <a:gridCol w="2968425"/>
              </a:tblGrid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Khai báo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 hàm để xử lý sự kiện onclick của nút và dùng jQuery để </a:t>
                      </a:r>
                      <a:r>
                        <a:rPr b="1" lang="en">
                          <a:solidFill>
                            <a:schemeClr val="dk1"/>
                          </a:solidFill>
                        </a:rPr>
                        <a:t>gán hàm này cho sự kiện click của nút (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sử dụng method .click() hoặc method .on() của jQuery</a:t>
                      </a:r>
                      <a:r>
                        <a:rPr b="1" lang="en">
                          <a:solidFill>
                            <a:schemeClr val="dk1"/>
                          </a:solidFill>
                        </a:rPr>
                        <a:t>)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8" name="Google Shape;348;p63"/>
          <p:cNvSpPr/>
          <p:nvPr/>
        </p:nvSpPr>
        <p:spPr>
          <a:xfrm>
            <a:off x="1832800" y="2332424"/>
            <a:ext cx="2240101" cy="503911"/>
          </a:xfrm>
          <a:custGeom>
            <a:rect b="b" l="l" r="r" t="t"/>
            <a:pathLst>
              <a:path extrusionOk="0" h="67233" w="98672">
                <a:moveTo>
                  <a:pt x="0" y="0"/>
                </a:moveTo>
                <a:cubicBezTo>
                  <a:pt x="3499" y="8678"/>
                  <a:pt x="13016" y="40868"/>
                  <a:pt x="20994" y="52065"/>
                </a:cubicBezTo>
                <a:cubicBezTo>
                  <a:pt x="28972" y="63262"/>
                  <a:pt x="34920" y="67390"/>
                  <a:pt x="47866" y="67180"/>
                </a:cubicBezTo>
                <a:cubicBezTo>
                  <a:pt x="60812" y="66970"/>
                  <a:pt x="90204" y="53534"/>
                  <a:pt x="98672" y="50805"/>
                </a:cubicBezTo>
              </a:path>
            </a:pathLst>
          </a:custGeom>
          <a:noFill/>
          <a:ln cap="flat" cmpd="sng" w="19050">
            <a:solidFill>
              <a:srgbClr val="00ADEE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349" name="Google Shape;349;p63"/>
          <p:cNvSpPr/>
          <p:nvPr/>
        </p:nvSpPr>
        <p:spPr>
          <a:xfrm>
            <a:off x="3571850" y="1228825"/>
            <a:ext cx="493375" cy="503850"/>
          </a:xfrm>
          <a:custGeom>
            <a:rect b="b" l="l" r="r" t="t"/>
            <a:pathLst>
              <a:path extrusionOk="0" h="20154" w="19735">
                <a:moveTo>
                  <a:pt x="0" y="20154"/>
                </a:moveTo>
                <a:cubicBezTo>
                  <a:pt x="1610" y="18825"/>
                  <a:pt x="7139" y="14906"/>
                  <a:pt x="9658" y="12177"/>
                </a:cubicBezTo>
                <a:cubicBezTo>
                  <a:pt x="12177" y="9448"/>
                  <a:pt x="13437" y="5809"/>
                  <a:pt x="15116" y="3779"/>
                </a:cubicBezTo>
                <a:cubicBezTo>
                  <a:pt x="16796" y="1750"/>
                  <a:pt x="18965" y="630"/>
                  <a:pt x="19735" y="0"/>
                </a:cubicBezTo>
              </a:path>
            </a:pathLst>
          </a:custGeom>
          <a:noFill/>
          <a:ln cap="flat" cmpd="sng" w="19050">
            <a:solidFill>
              <a:srgbClr val="00ADEE"/>
            </a:solidFill>
            <a:prstDash val="solid"/>
            <a:round/>
            <a:headEnd len="med" w="med" type="none"/>
            <a:tailEnd len="med" w="med" type="stealth"/>
          </a:ln>
        </p:spPr>
      </p:sp>
      <p:pic>
        <p:nvPicPr>
          <p:cNvPr id="350" name="Google Shape;350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640" y="3756400"/>
            <a:ext cx="5496535" cy="1036300"/>
          </a:xfrm>
          <a:prstGeom prst="rect">
            <a:avLst/>
          </a:prstGeom>
          <a:noFill/>
          <a:ln cap="flat" cmpd="sng" w="9525">
            <a:solidFill>
              <a:srgbClr val="00ADE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51" name="Google Shape;351;p63"/>
          <p:cNvSpPr/>
          <p:nvPr/>
        </p:nvSpPr>
        <p:spPr>
          <a:xfrm>
            <a:off x="3516650" y="4304425"/>
            <a:ext cx="4314300" cy="262500"/>
          </a:xfrm>
          <a:prstGeom prst="rect">
            <a:avLst/>
          </a:prstGeom>
          <a:noFill/>
          <a:ln cap="flat" cmpd="sng" w="19050">
            <a:solidFill>
              <a:srgbClr val="00A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52" name="Google Shape;352;p63"/>
          <p:cNvGraphicFramePr/>
          <p:nvPr/>
        </p:nvGraphicFramePr>
        <p:xfrm>
          <a:off x="558475" y="3043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{BACEE9F1-1657-4487-ABDF-9CBAA427BB93}</a:tableStyleId>
              </a:tblPr>
              <a:tblGrid>
                <a:gridCol w="382850"/>
                <a:gridCol w="24956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Bên trong hàm, viết code jquery để </a:t>
                      </a:r>
                      <a:r>
                        <a:rPr b="1" lang="en">
                          <a:solidFill>
                            <a:schemeClr val="dk1"/>
                          </a:solidFill>
                        </a:rPr>
                        <a:t>đổi màu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của </a:t>
                      </a:r>
                      <a:r>
                        <a:rPr b="1" lang="en">
                          <a:solidFill>
                            <a:schemeClr val="dk1"/>
                          </a:solidFill>
                        </a:rPr>
                        <a:t>h1-chao-mung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 sang màu đỏ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3" name="Google Shape;353;p63"/>
          <p:cNvSpPr/>
          <p:nvPr/>
        </p:nvSpPr>
        <p:spPr>
          <a:xfrm>
            <a:off x="465250" y="4073950"/>
            <a:ext cx="2957100" cy="993300"/>
          </a:xfrm>
          <a:prstGeom prst="rect">
            <a:avLst/>
          </a:prstGeom>
          <a:noFill/>
          <a:ln cap="flat" cmpd="sng" w="9525">
            <a:solidFill>
              <a:srgbClr val="00A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Chú ý: có nh</a:t>
            </a:r>
            <a:r>
              <a:rPr lang="en"/>
              <a:t>iều cách dùng selector để tạo Jquery Object, trong ví dụ này ta tư duy là trong các h1 thì chọn cái đầu tiên (first)</a:t>
            </a:r>
            <a:endParaRPr/>
          </a:p>
        </p:txBody>
      </p:sp>
      <p:sp>
        <p:nvSpPr>
          <p:cNvPr id="354" name="Google Shape;354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ln cap="flat" cmpd="sng" w="9525">
            <a:solidFill>
              <a:srgbClr val="00A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63"/>
          <p:cNvSpPr/>
          <p:nvPr/>
        </p:nvSpPr>
        <p:spPr>
          <a:xfrm flipH="1" rot="10800000">
            <a:off x="3075300" y="3472293"/>
            <a:ext cx="700346" cy="743582"/>
          </a:xfrm>
          <a:custGeom>
            <a:rect b="b" l="l" r="r" t="t"/>
            <a:pathLst>
              <a:path extrusionOk="0" h="20154" w="19735">
                <a:moveTo>
                  <a:pt x="0" y="20154"/>
                </a:moveTo>
                <a:cubicBezTo>
                  <a:pt x="1610" y="18825"/>
                  <a:pt x="7139" y="14906"/>
                  <a:pt x="9658" y="12177"/>
                </a:cubicBezTo>
                <a:cubicBezTo>
                  <a:pt x="12177" y="9448"/>
                  <a:pt x="13437" y="5809"/>
                  <a:pt x="15116" y="3779"/>
                </a:cubicBezTo>
                <a:cubicBezTo>
                  <a:pt x="16796" y="1750"/>
                  <a:pt x="18965" y="630"/>
                  <a:pt x="19735" y="0"/>
                </a:cubicBezTo>
              </a:path>
            </a:pathLst>
          </a:custGeom>
          <a:noFill/>
          <a:ln cap="flat" cmpd="sng" w="19050">
            <a:solidFill>
              <a:srgbClr val="00ADEE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4"/>
          <p:cNvSpPr txBox="1"/>
          <p:nvPr>
            <p:ph type="ctrTitle"/>
          </p:nvPr>
        </p:nvSpPr>
        <p:spPr>
          <a:xfrm>
            <a:off x="516925" y="70650"/>
            <a:ext cx="8068800" cy="572700"/>
          </a:xfrm>
          <a:prstGeom prst="rect">
            <a:avLst/>
          </a:prstGeom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37278E"/>
                </a:solidFill>
              </a:rPr>
              <a:t>Task 380.30 jQuery Ajax - get data API</a:t>
            </a:r>
            <a:endParaRPr b="1" sz="2600">
              <a:solidFill>
                <a:srgbClr val="37278E"/>
              </a:solidFill>
            </a:endParaRPr>
          </a:p>
        </p:txBody>
      </p:sp>
      <p:graphicFrame>
        <p:nvGraphicFramePr>
          <p:cNvPr id="361" name="Google Shape;361;p64"/>
          <p:cNvGraphicFramePr/>
          <p:nvPr/>
        </p:nvGraphicFramePr>
        <p:xfrm>
          <a:off x="581225" y="33315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{BACEE9F1-1657-4487-ABDF-9CBAA427BB93}</a:tableStyleId>
              </a:tblPr>
              <a:tblGrid>
                <a:gridCol w="971575"/>
                <a:gridCol w="6397750"/>
                <a:gridCol w="1030950"/>
              </a:tblGrid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subTask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Yêu cầu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Môi trường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12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Làm nút (</a:t>
                      </a:r>
                      <a:r>
                        <a:rPr lang="en"/>
                        <a:t>jquery ajax call: Get student info by ID</a:t>
                      </a:r>
                      <a:r>
                        <a:rPr lang="en"/>
                        <a:t>) dùng </a:t>
                      </a:r>
                      <a:r>
                        <a:rPr b="1" lang="en">
                          <a:solidFill>
                            <a:srgbClr val="0071BB"/>
                          </a:solidFill>
                        </a:rPr>
                        <a:t>Ajax Jquery</a:t>
                      </a:r>
                      <a:endParaRPr b="1">
                        <a:solidFill>
                          <a:srgbClr val="0071BB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Gọi được api và ghi </a:t>
                      </a:r>
                      <a:r>
                        <a:rPr b="1" lang="en">
                          <a:solidFill>
                            <a:schemeClr val="dk1"/>
                          </a:solidFill>
                        </a:rPr>
                        <a:t>response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ra console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Tham khảo nút (jquery ajax call: Load student data)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console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AD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62" name="Google Shape;362;p64"/>
          <p:cNvPicPr preferRelativeResize="0"/>
          <p:nvPr/>
        </p:nvPicPr>
        <p:blipFill rotWithShape="1">
          <a:blip r:embed="rId3">
            <a:alphaModFix/>
          </a:blip>
          <a:srcRect b="22282" l="0" r="0" t="0"/>
          <a:stretch/>
        </p:blipFill>
        <p:spPr>
          <a:xfrm>
            <a:off x="2636800" y="763350"/>
            <a:ext cx="6337749" cy="2450153"/>
          </a:xfrm>
          <a:prstGeom prst="rect">
            <a:avLst/>
          </a:prstGeom>
          <a:noFill/>
          <a:ln cap="flat" cmpd="sng" w="9525">
            <a:solidFill>
              <a:srgbClr val="00ADE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3" name="Google Shape;363;p64"/>
          <p:cNvSpPr/>
          <p:nvPr/>
        </p:nvSpPr>
        <p:spPr>
          <a:xfrm>
            <a:off x="581225" y="763350"/>
            <a:ext cx="1733700" cy="1011300"/>
          </a:xfrm>
          <a:prstGeom prst="rect">
            <a:avLst/>
          </a:prstGeom>
          <a:noFill/>
          <a:ln cap="flat" cmpd="sng" w="9525">
            <a:solidFill>
              <a:srgbClr val="00A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Bạn tải code mẫu đính kèm về để làm tiếp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003091"/>
      </a:accent1>
      <a:accent2>
        <a:srgbClr val="0071BB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